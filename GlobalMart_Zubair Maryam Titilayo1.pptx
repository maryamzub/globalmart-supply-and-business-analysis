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4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Delivery Rate</c:v>
                </c:pt>
              </c:strCache>
            </c:strRef>
          </c:tx>
          <c:spPr>
            <a:solidFill>
              <a:srgbClr val="F0A202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629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GlobalTrade Ng</c:v>
                </c:pt>
                <c:pt idx="1">
                  <c:v>Afroparts Ltd</c:v>
                </c:pt>
                <c:pt idx="2">
                  <c:v>Megasupply Inc</c:v>
                </c:pt>
                <c:pt idx="3">
                  <c:v>Sahelgoods Sa</c:v>
                </c:pt>
                <c:pt idx="4">
                  <c:v>Nilesupply Egypt</c:v>
                </c:pt>
                <c:pt idx="5">
                  <c:v>Fasttrack Logistics</c:v>
                </c:pt>
                <c:pt idx="6">
                  <c:v>Indoafrica Imports</c:v>
                </c:pt>
                <c:pt idx="7">
                  <c:v>Atlantictrade Gh</c:v>
                </c:pt>
                <c:pt idx="8">
                  <c:v>Sunsource Ltd</c:v>
                </c:pt>
                <c:pt idx="9">
                  <c:v>Eastconnect Co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72.83</c:v>
                </c:pt>
                <c:pt idx="1">
                  <c:v>68.11</c:v>
                </c:pt>
                <c:pt idx="2">
                  <c:v>67.569999999999993</c:v>
                </c:pt>
                <c:pt idx="3">
                  <c:v>65.28</c:v>
                </c:pt>
                <c:pt idx="4">
                  <c:v>65.22</c:v>
                </c:pt>
                <c:pt idx="5">
                  <c:v>64.94</c:v>
                </c:pt>
                <c:pt idx="6">
                  <c:v>64.709999999999994</c:v>
                </c:pt>
                <c:pt idx="7">
                  <c:v>64.150000000000006</c:v>
                </c:pt>
                <c:pt idx="8">
                  <c:v>63.47</c:v>
                </c:pt>
                <c:pt idx="9">
                  <c:v>62.59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4E-4869-B523-030CBC9B64C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629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5FAFA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On-Time Rate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9E5-4F49-8729-8E003D3647DD}"/>
              </c:ext>
            </c:extLst>
          </c:dPt>
          <c:dPt>
            <c:idx val="1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9E5-4F49-8729-8E003D3647DD}"/>
              </c:ext>
            </c:extLst>
          </c:dPt>
          <c:dPt>
            <c:idx val="2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9E5-4F49-8729-8E003D3647DD}"/>
              </c:ext>
            </c:extLst>
          </c:dPt>
          <c:dPt>
            <c:idx val="3"/>
            <c:bubble3D val="0"/>
            <c:spPr>
              <a:solidFill>
                <a:srgbClr val="9BD8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9E5-4F49-8729-8E003D3647DD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9E5-4F49-8729-8E003D3647DD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9E5-4F49-8729-8E003D3647DD}"/>
                </c:ext>
              </c:extLst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9E5-4F49-8729-8E003D3647DD}"/>
                </c:ext>
              </c:extLst>
            </c:dLbl>
            <c:dLbl>
              <c:idx val="3"/>
              <c:numFmt formatCode="0.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9E5-4F49-8729-8E003D3647DD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Express</c:v>
                </c:pt>
                <c:pt idx="1">
                  <c:v>Standard</c:v>
                </c:pt>
                <c:pt idx="2">
                  <c:v>Economy</c:v>
                </c:pt>
                <c:pt idx="3">
                  <c:v>Overnight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27.07</c:v>
                </c:pt>
                <c:pt idx="1">
                  <c:v>25.41</c:v>
                </c:pt>
                <c:pt idx="2">
                  <c:v>24.62</c:v>
                </c:pt>
                <c:pt idx="3">
                  <c:v>22.91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9E5-4F49-8729-8E003D3647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16292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6DB-437F-9AAD-AD77D33F27F5}"/>
              </c:ext>
            </c:extLst>
          </c:dPt>
          <c:dPt>
            <c:idx val="1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6DB-437F-9AAD-AD77D33F27F5}"/>
              </c:ext>
            </c:extLst>
          </c:dPt>
          <c:dPt>
            <c:idx val="2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6DB-437F-9AAD-AD77D33F27F5}"/>
              </c:ext>
            </c:extLst>
          </c:dPt>
          <c:dPt>
            <c:idx val="3"/>
            <c:bubble3D val="0"/>
            <c:spPr>
              <a:solidFill>
                <a:srgbClr val="6FB7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6DB-437F-9AAD-AD77D33F27F5}"/>
              </c:ext>
            </c:extLst>
          </c:dPt>
          <c:dPt>
            <c:idx val="4"/>
            <c:bubble3D val="0"/>
            <c:spPr>
              <a:solidFill>
                <a:srgbClr val="9BD8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6DB-437F-9AAD-AD77D33F27F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6DB-437F-9AAD-AD77D33F27F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6DB-437F-9AAD-AD77D33F27F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6DB-437F-9AAD-AD77D33F27F5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6DB-437F-9AAD-AD77D33F27F5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6DB-437F-9AAD-AD77D33F27F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East Africa</c:v>
                </c:pt>
                <c:pt idx="1">
                  <c:v>West Africa</c:v>
                </c:pt>
                <c:pt idx="2">
                  <c:v>Central Africa</c:v>
                </c:pt>
                <c:pt idx="3">
                  <c:v>North Africa</c:v>
                </c:pt>
                <c:pt idx="4">
                  <c:v>South Africa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158.47999999999999</c:v>
                </c:pt>
                <c:pt idx="1">
                  <c:v>141.28</c:v>
                </c:pt>
                <c:pt idx="2">
                  <c:v>147.29</c:v>
                </c:pt>
                <c:pt idx="3">
                  <c:v>133.83000000000001</c:v>
                </c:pt>
                <c:pt idx="4">
                  <c:v>125.68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6DB-437F-9AAD-AD77D33F27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6292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629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Quickship Co</c:v>
                </c:pt>
                <c:pt idx="1">
                  <c:v>Afroparts Ltd</c:v>
                </c:pt>
                <c:pt idx="2">
                  <c:v>Globaltrade Ng</c:v>
                </c:pt>
                <c:pt idx="3">
                  <c:v>Nilesupply Egypt</c:v>
                </c:pt>
                <c:pt idx="4">
                  <c:v>Sahelgoods Sa</c:v>
                </c:pt>
                <c:pt idx="5">
                  <c:v>Indoafrica Imports</c:v>
                </c:pt>
                <c:pt idx="6">
                  <c:v>Fasttrack Logistics</c:v>
                </c:pt>
                <c:pt idx="7">
                  <c:v>Atlantictrade Gh</c:v>
                </c:pt>
                <c:pt idx="8">
                  <c:v>Megasupply Inc</c:v>
                </c:pt>
                <c:pt idx="9">
                  <c:v>Sunsource Ltd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19.100000000000001</c:v>
                </c:pt>
                <c:pt idx="1">
                  <c:v>18.7</c:v>
                </c:pt>
                <c:pt idx="2">
                  <c:v>17.7</c:v>
                </c:pt>
                <c:pt idx="3">
                  <c:v>17.2</c:v>
                </c:pt>
                <c:pt idx="4">
                  <c:v>17.2</c:v>
                </c:pt>
                <c:pt idx="5">
                  <c:v>16.600000000000001</c:v>
                </c:pt>
                <c:pt idx="6">
                  <c:v>16.399999999999999</c:v>
                </c:pt>
                <c:pt idx="7">
                  <c:v>15.9</c:v>
                </c:pt>
                <c:pt idx="8">
                  <c:v>15.6</c:v>
                </c:pt>
                <c:pt idx="9">
                  <c:v>14.6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27-48DE-9623-45A672A0094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629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629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Health &amp; Beauty</c:v>
                </c:pt>
                <c:pt idx="1">
                  <c:v>Electronics</c:v>
                </c:pt>
                <c:pt idx="2">
                  <c:v>Food &amp; Beverages</c:v>
                </c:pt>
                <c:pt idx="3">
                  <c:v>Sports &amp; Fitness</c:v>
                </c:pt>
                <c:pt idx="4">
                  <c:v>Industrial Equip.</c:v>
                </c:pt>
                <c:pt idx="5">
                  <c:v>Agriculture Inputs</c:v>
                </c:pt>
                <c:pt idx="6">
                  <c:v>Automotive Parts</c:v>
                </c:pt>
                <c:pt idx="7">
                  <c:v>Clothing</c:v>
                </c:pt>
                <c:pt idx="8">
                  <c:v>Home Appliances</c:v>
                </c:pt>
                <c:pt idx="9">
                  <c:v>Office Supplies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28.67</c:v>
                </c:pt>
                <c:pt idx="1">
                  <c:v>28.66</c:v>
                </c:pt>
                <c:pt idx="2">
                  <c:v>28.34</c:v>
                </c:pt>
                <c:pt idx="3">
                  <c:v>28.25</c:v>
                </c:pt>
                <c:pt idx="4">
                  <c:v>27.81</c:v>
                </c:pt>
                <c:pt idx="5">
                  <c:v>27.73</c:v>
                </c:pt>
                <c:pt idx="6">
                  <c:v>27.61</c:v>
                </c:pt>
                <c:pt idx="7">
                  <c:v>27.27</c:v>
                </c:pt>
                <c:pt idx="8">
                  <c:v>26.94</c:v>
                </c:pt>
                <c:pt idx="9">
                  <c:v>26.94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6D-4F23-9A8E-4EDC088DDB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629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Stock Level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629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Health &amp; Beauty</c:v>
                </c:pt>
                <c:pt idx="1">
                  <c:v>Food &amp; Beverages</c:v>
                </c:pt>
                <c:pt idx="2">
                  <c:v>Home Appliances</c:v>
                </c:pt>
                <c:pt idx="3">
                  <c:v>Industrial Equip.</c:v>
                </c:pt>
                <c:pt idx="4">
                  <c:v>Clothing</c:v>
                </c:pt>
                <c:pt idx="5">
                  <c:v>Agriculture Inputs</c:v>
                </c:pt>
                <c:pt idx="6">
                  <c:v>Office Supplies</c:v>
                </c:pt>
                <c:pt idx="7">
                  <c:v>Automotive Parts</c:v>
                </c:pt>
                <c:pt idx="8">
                  <c:v>Sports &amp; Fitness</c:v>
                </c:pt>
                <c:pt idx="9">
                  <c:v>Electronics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0.55000000000000004</c:v>
                </c:pt>
                <c:pt idx="1">
                  <c:v>0.54</c:v>
                </c:pt>
                <c:pt idx="2">
                  <c:v>0.54</c:v>
                </c:pt>
                <c:pt idx="3">
                  <c:v>0.52</c:v>
                </c:pt>
                <c:pt idx="4">
                  <c:v>0.52</c:v>
                </c:pt>
                <c:pt idx="5">
                  <c:v>0.48</c:v>
                </c:pt>
                <c:pt idx="6">
                  <c:v>0.48</c:v>
                </c:pt>
                <c:pt idx="7">
                  <c:v>0.5</c:v>
                </c:pt>
                <c:pt idx="8">
                  <c:v>0.48</c:v>
                </c:pt>
                <c:pt idx="9">
                  <c:v>0.44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95-40C4-A946-78A7498812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Quantity Ordered</c:v>
                </c:pt>
              </c:strCache>
            </c:strRef>
          </c:tx>
          <c:spPr>
            <a:solidFill>
              <a:srgbClr val="F0A20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629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Health &amp; Beauty</c:v>
                </c:pt>
                <c:pt idx="1">
                  <c:v>Food &amp; Beverages</c:v>
                </c:pt>
                <c:pt idx="2">
                  <c:v>Home Appliances</c:v>
                </c:pt>
                <c:pt idx="3">
                  <c:v>Industrial Equip.</c:v>
                </c:pt>
                <c:pt idx="4">
                  <c:v>Clothing</c:v>
                </c:pt>
                <c:pt idx="5">
                  <c:v>Agriculture Inputs</c:v>
                </c:pt>
                <c:pt idx="6">
                  <c:v>Office Supplies</c:v>
                </c:pt>
                <c:pt idx="7">
                  <c:v>Automotive Parts</c:v>
                </c:pt>
                <c:pt idx="8">
                  <c:v>Sports &amp; Fitness</c:v>
                </c:pt>
                <c:pt idx="9">
                  <c:v>Electronics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0.1</c:v>
                </c:pt>
                <c:pt idx="1">
                  <c:v>0.09</c:v>
                </c:pt>
                <c:pt idx="2">
                  <c:v>0.09</c:v>
                </c:pt>
                <c:pt idx="3">
                  <c:v>0.08</c:v>
                </c:pt>
                <c:pt idx="4">
                  <c:v>0.08</c:v>
                </c:pt>
                <c:pt idx="5">
                  <c:v>0.08</c:v>
                </c:pt>
                <c:pt idx="6">
                  <c:v>0.08</c:v>
                </c:pt>
                <c:pt idx="7">
                  <c:v>0.08</c:v>
                </c:pt>
                <c:pt idx="8">
                  <c:v>7.0000000000000007E-2</c:v>
                </c:pt>
                <c:pt idx="9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895-40C4-A946-78A74988120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629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50">
              <a:solidFill>
                <a:srgbClr val="16292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Damaged Goods Rate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629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Health &amp; Beauty</c:v>
                </c:pt>
                <c:pt idx="1">
                  <c:v>Electronics</c:v>
                </c:pt>
                <c:pt idx="2">
                  <c:v>Clothing</c:v>
                </c:pt>
                <c:pt idx="3">
                  <c:v>Home Appliances</c:v>
                </c:pt>
                <c:pt idx="4">
                  <c:v>Sports &amp; Fitness</c:v>
                </c:pt>
                <c:pt idx="5">
                  <c:v>Agriculture Inputs</c:v>
                </c:pt>
                <c:pt idx="6">
                  <c:v>Industrial Equip.</c:v>
                </c:pt>
                <c:pt idx="7">
                  <c:v>Office Supplies</c:v>
                </c:pt>
                <c:pt idx="8">
                  <c:v>Automotive Parts</c:v>
                </c:pt>
                <c:pt idx="9">
                  <c:v>Food &amp; Beverages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2.7</c:v>
                </c:pt>
                <c:pt idx="1">
                  <c:v>2.6</c:v>
                </c:pt>
                <c:pt idx="2">
                  <c:v>2.6</c:v>
                </c:pt>
                <c:pt idx="3">
                  <c:v>2.6</c:v>
                </c:pt>
                <c:pt idx="4">
                  <c:v>2.5</c:v>
                </c:pt>
                <c:pt idx="5">
                  <c:v>2.5</c:v>
                </c:pt>
                <c:pt idx="6">
                  <c:v>2.5</c:v>
                </c:pt>
                <c:pt idx="7">
                  <c:v>2.5</c:v>
                </c:pt>
                <c:pt idx="8">
                  <c:v>2.2999999999999998</c:v>
                </c:pt>
                <c:pt idx="9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5D-4612-B05A-3255C11694D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750" b="0" i="0" u="none" strike="noStrike">
                <a:solidFill>
                  <a:srgbClr val="1629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dLbls>
            <c:numFmt formatCode="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6292B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57</c:v>
                </c:pt>
                <c:pt idx="1">
                  <c:v>60</c:v>
                </c:pt>
                <c:pt idx="2">
                  <c:v>52</c:v>
                </c:pt>
                <c:pt idx="3">
                  <c:v>50</c:v>
                </c:pt>
                <c:pt idx="4">
                  <c:v>62</c:v>
                </c:pt>
                <c:pt idx="5">
                  <c:v>59</c:v>
                </c:pt>
                <c:pt idx="6">
                  <c:v>66</c:v>
                </c:pt>
                <c:pt idx="7">
                  <c:v>66</c:v>
                </c:pt>
                <c:pt idx="8">
                  <c:v>56</c:v>
                </c:pt>
                <c:pt idx="9">
                  <c:v>54</c:v>
                </c:pt>
                <c:pt idx="10">
                  <c:v>66</c:v>
                </c:pt>
                <c:pt idx="11">
                  <c:v>59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880-4EA1-A3B5-475C5E1946B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629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5FAFA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6310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2103120"/>
            <a:ext cx="6858000" cy="6858000"/>
          </a:xfrm>
          <a:prstGeom prst="ellipse">
            <a:avLst/>
          </a:prstGeom>
          <a:solidFill>
            <a:srgbClr val="022C30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280160"/>
            <a:ext cx="5212080" cy="5212080"/>
          </a:xfrm>
          <a:prstGeom prst="ellipse">
            <a:avLst/>
          </a:prstGeom>
          <a:ln w="1905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-457200"/>
            <a:ext cx="3566160" cy="3566160"/>
          </a:xfrm>
          <a:prstGeom prst="ellipse">
            <a:avLst/>
          </a:prstGeom>
          <a:ln w="1905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24160" y="365760"/>
            <a:ext cx="1920240" cy="19202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 →  POWER BI  →  BUSINESS INSIGHT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GlobalMart Supply Chain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Business Analytics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43434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B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review of delivery performance, profitability, and inventory health across GlobalMart's African supplier network.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5257800"/>
            <a:ext cx="21945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394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Profitability Analysis Dashboard  •  Supply Chain Operations Dashboard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Executive Leadership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Operational Challenges Facing GlobalMart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leadership has identified four critical issues eroding operational and financial performance.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7E7"/>
            </a:solidFill>
            <a:prstDash val="solid"/>
          </a:ln>
          <a:effectLst>
            <a:outerShdw blurRad="76200" dist="25400" dir="5400000" algn="bl" rotWithShape="0">
              <a:srgbClr val="1B2B2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221992"/>
            <a:ext cx="566928" cy="566928"/>
          </a:xfrm>
          <a:prstGeom prst="ellipse">
            <a:avLst/>
          </a:prstGeom>
          <a:solidFill>
            <a:srgbClr val="EAF6F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219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203704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Inefficient Delivery Performance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04672" y="2880360"/>
            <a:ext cx="474573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complaints have risen due to delayed deliveries. Early findings point to inconsistent supplier reliability and shipping-mode efficiency.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96596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7E7"/>
            </a:solidFill>
            <a:prstDash val="solid"/>
          </a:ln>
          <a:effectLst>
            <a:outerShdw blurRad="76200" dist="25400" dir="5400000" algn="bl" rotWithShape="0">
              <a:srgbClr val="1B2B2E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82512" y="2221992"/>
            <a:ext cx="566928" cy="566928"/>
          </a:xfrm>
          <a:prstGeom prst="ellipse">
            <a:avLst/>
          </a:prstGeom>
          <a:solidFill>
            <a:srgbClr val="EAF6F6"/>
          </a:solidFill>
          <a:ln/>
        </p:spPr>
      </p:sp>
      <p:sp>
        <p:nvSpPr>
          <p:cNvPr id="12" name="Text 10"/>
          <p:cNvSpPr/>
          <p:nvPr/>
        </p:nvSpPr>
        <p:spPr>
          <a:xfrm>
            <a:off x="6382512" y="22219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0" y="2203704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Imbalance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382512" y="2880360"/>
            <a:ext cx="474573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faces simultaneous overstocking and stock shortages across categories, driving up holding costs and lost sales.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7E7"/>
            </a:solidFill>
            <a:prstDash val="solid"/>
          </a:ln>
          <a:effectLst>
            <a:outerShdw blurRad="76200" dist="25400" dir="5400000" algn="bl" rotWithShape="0">
              <a:srgbClr val="1B2B2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4416552"/>
            <a:ext cx="566928" cy="566928"/>
          </a:xfrm>
          <a:prstGeom prst="ellipse">
            <a:avLst/>
          </a:prstGeom>
          <a:solidFill>
            <a:srgbClr val="EAF6F6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4165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4398264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Stagnating Profit Margins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04672" y="5074920"/>
            <a:ext cx="474573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keeps growing but margins remain flat, raising questions about cost efficiency, supplier pricing, and product profitability.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416052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7E7"/>
            </a:solidFill>
            <a:prstDash val="solid"/>
          </a:ln>
          <a:effectLst>
            <a:outerShdw blurRad="76200" dist="25400" dir="5400000" algn="bl" rotWithShape="0">
              <a:srgbClr val="1B2B2E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82512" y="4416552"/>
            <a:ext cx="566928" cy="566928"/>
          </a:xfrm>
          <a:prstGeom prst="ellipse">
            <a:avLst/>
          </a:prstGeom>
          <a:solidFill>
            <a:srgbClr val="EAF6F6"/>
          </a:solidFill>
          <a:ln/>
        </p:spPr>
      </p:sp>
      <p:sp>
        <p:nvSpPr>
          <p:cNvPr id="22" name="Text 20"/>
          <p:cNvSpPr/>
          <p:nvPr/>
        </p:nvSpPr>
        <p:spPr>
          <a:xfrm>
            <a:off x="6382512" y="44165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32320" y="4398264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Data Visibility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382512" y="5074920"/>
            <a:ext cx="474573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fragmented reporting makes it difficult for management to see real-time supply chain and business performance.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Decision-Ready Insight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10996" y="1600200"/>
            <a:ext cx="2743200" cy="1051560"/>
          </a:xfrm>
          <a:prstGeom prst="roundRect">
            <a:avLst>
              <a:gd name="adj" fmla="val 7826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110996" y="17099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48156" y="20756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prepare raw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data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927348" y="2016252"/>
            <a:ext cx="722376" cy="219456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8" name="Shape 6"/>
          <p:cNvSpPr/>
          <p:nvPr/>
        </p:nvSpPr>
        <p:spPr>
          <a:xfrm>
            <a:off x="4722876" y="1600200"/>
            <a:ext cx="2743200" cy="1051560"/>
          </a:xfrm>
          <a:prstGeom prst="roundRect">
            <a:avLst>
              <a:gd name="adj" fmla="val 7826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722876" y="17099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860036" y="20756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visualize &amp;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 with the data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539228" y="2016252"/>
            <a:ext cx="722376" cy="219456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2" name="Shape 10"/>
          <p:cNvSpPr/>
          <p:nvPr/>
        </p:nvSpPr>
        <p:spPr>
          <a:xfrm>
            <a:off x="8334756" y="1600200"/>
            <a:ext cx="2743200" cy="1051560"/>
          </a:xfrm>
          <a:prstGeom prst="roundRect">
            <a:avLst>
              <a:gd name="adj" fmla="val 7826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334756" y="17099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71916" y="20756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findings for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decisions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063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Preparation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201168" cy="201168"/>
          </a:xfrm>
          <a:prstGeom prst="roundRect">
            <a:avLst>
              <a:gd name="adj" fmla="val 100000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158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41248" y="3465576"/>
            <a:ext cx="3319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removal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1248" y="3721608"/>
            <a:ext cx="33192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duplicate records identified and removed from the dataset.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43400" y="3520440"/>
            <a:ext cx="201168" cy="201168"/>
          </a:xfrm>
          <a:prstGeom prst="roundRect">
            <a:avLst>
              <a:gd name="adj" fmla="val 100000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4343400" y="35158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36008" y="3465576"/>
            <a:ext cx="3319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636008" y="3721608"/>
            <a:ext cx="33192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gaps fixed by sorting on country then filling down; numeric fields (sales, cost, profit) rebuilt with custom columns.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138160" y="3520440"/>
            <a:ext cx="201168" cy="201168"/>
          </a:xfrm>
          <a:prstGeom prst="roundRect">
            <a:avLst>
              <a:gd name="adj" fmla="val 100000"/>
            </a:avLst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8138160" y="35158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430768" y="3465576"/>
            <a:ext cx="3319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Qualitative fields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430768" y="3721608"/>
            <a:ext cx="33192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and shipping-mode entries standardized using Replace Values.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201168" cy="201168"/>
          </a:xfrm>
          <a:prstGeom prst="roundRect">
            <a:avLst>
              <a:gd name="adj" fmla="val 100000"/>
            </a:avLst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6131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41248" y="4562856"/>
            <a:ext cx="3319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 standardization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41248" y="4818888"/>
            <a:ext cx="33192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date formats normalized with a custom column.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43400" y="4617720"/>
            <a:ext cx="201168" cy="201168"/>
          </a:xfrm>
          <a:prstGeom prst="roundRect">
            <a:avLst>
              <a:gd name="adj" fmla="val 100000"/>
            </a:avLst>
          </a:prstGeom>
          <a:solidFill>
            <a:srgbClr val="02C39A"/>
          </a:solidFill>
          <a:ln/>
        </p:spPr>
      </p:sp>
      <p:sp>
        <p:nvSpPr>
          <p:cNvPr id="33" name="Text 31"/>
          <p:cNvSpPr/>
          <p:nvPr/>
        </p:nvSpPr>
        <p:spPr>
          <a:xfrm>
            <a:off x="4343400" y="46131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36008" y="4562856"/>
            <a:ext cx="3319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 checks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636008" y="4818888"/>
            <a:ext cx="33192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names, regions and categories standardized; formatting errors in dates, numbers and text casing corrected.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138160" y="4617720"/>
            <a:ext cx="201168" cy="201168"/>
          </a:xfrm>
          <a:prstGeom prst="roundRect">
            <a:avLst>
              <a:gd name="adj" fmla="val 100000"/>
            </a:avLst>
          </a:prstGeom>
          <a:solidFill>
            <a:srgbClr val="02C39A"/>
          </a:solidFill>
          <a:ln/>
        </p:spPr>
      </p:sp>
      <p:sp>
        <p:nvSpPr>
          <p:cNvPr id="37" name="Text 35"/>
          <p:cNvSpPr/>
          <p:nvPr/>
        </p:nvSpPr>
        <p:spPr>
          <a:xfrm>
            <a:off x="8138160" y="46131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430768" y="4562856"/>
            <a:ext cx="3319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430768" y="4818888"/>
            <a:ext cx="33192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 validated for accuracy and consistency before modeling.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 &amp;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Clean, Analysis-Ready Supply Chain Dataset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084832" cy="1143000"/>
          </a:xfrm>
          <a:prstGeom prst="roundRect">
            <a:avLst>
              <a:gd name="adj" fmla="val 6400"/>
            </a:avLst>
          </a:prstGeom>
          <a:solidFill>
            <a:srgbClr val="013A4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$706.6M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221284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70632" y="1554480"/>
            <a:ext cx="2084832" cy="1143000"/>
          </a:xfrm>
          <a:prstGeom prst="roundRect">
            <a:avLst>
              <a:gd name="adj" fmla="val 6400"/>
            </a:avLst>
          </a:prstGeom>
          <a:solidFill>
            <a:srgbClr val="013A40"/>
          </a:solidFill>
          <a:ln/>
        </p:spPr>
      </p:sp>
      <p:sp>
        <p:nvSpPr>
          <p:cNvPr id="8" name="Text 6"/>
          <p:cNvSpPr/>
          <p:nvPr/>
        </p:nvSpPr>
        <p:spPr>
          <a:xfrm>
            <a:off x="2770632" y="169164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$196.6M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862072" y="221284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92624" y="1554480"/>
            <a:ext cx="2084832" cy="1143000"/>
          </a:xfrm>
          <a:prstGeom prst="roundRect">
            <a:avLst>
              <a:gd name="adj" fmla="val 6400"/>
            </a:avLst>
          </a:prstGeom>
          <a:solidFill>
            <a:srgbClr val="013A40"/>
          </a:solidFill>
          <a:ln/>
        </p:spPr>
      </p:sp>
      <p:sp>
        <p:nvSpPr>
          <p:cNvPr id="11" name="Text 9"/>
          <p:cNvSpPr/>
          <p:nvPr/>
        </p:nvSpPr>
        <p:spPr>
          <a:xfrm>
            <a:off x="4992624" y="169164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2K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084064" y="221284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14616" y="1554480"/>
            <a:ext cx="2084832" cy="1143000"/>
          </a:xfrm>
          <a:prstGeom prst="roundRect">
            <a:avLst>
              <a:gd name="adj" fmla="val 6400"/>
            </a:avLst>
          </a:prstGeom>
          <a:solidFill>
            <a:srgbClr val="013A40"/>
          </a:solidFill>
          <a:ln/>
        </p:spPr>
      </p:sp>
      <p:sp>
        <p:nvSpPr>
          <p:cNvPr id="14" name="Text 12"/>
          <p:cNvSpPr/>
          <p:nvPr/>
        </p:nvSpPr>
        <p:spPr>
          <a:xfrm>
            <a:off x="7214616" y="169164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$355.6K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306056" y="221284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436608" y="1554480"/>
            <a:ext cx="2084832" cy="1143000"/>
          </a:xfrm>
          <a:prstGeom prst="roundRect">
            <a:avLst>
              <a:gd name="adj" fmla="val 6400"/>
            </a:avLst>
          </a:prstGeom>
          <a:solidFill>
            <a:srgbClr val="013A40"/>
          </a:solidFill>
          <a:ln/>
        </p:spPr>
      </p:sp>
      <p:sp>
        <p:nvSpPr>
          <p:cNvPr id="17" name="Text 15"/>
          <p:cNvSpPr/>
          <p:nvPr/>
        </p:nvSpPr>
        <p:spPr>
          <a:xfrm>
            <a:off x="9436608" y="169164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27.83%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528048" y="221284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2971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Structure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3474720"/>
            <a:ext cx="82296" cy="320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40156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154680" y="34015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Central, East, North, South &amp; West Africa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950208"/>
            <a:ext cx="82296" cy="320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87705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154680" y="387705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suppliers, incl. Quickship Co, Afroparts Ltd, GlobalTrade 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425696"/>
            <a:ext cx="82296" cy="320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35254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Categories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154680" y="435254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categories, from Health &amp; Beauty to Office Supplies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901184"/>
            <a:ext cx="82296" cy="320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8280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 Modes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154680" y="482803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Express, Standard, Economy, Overnight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5376672"/>
            <a:ext cx="82296" cy="320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303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154680" y="5303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cost, profit, orders, quantity, stock level, shipping days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503920" y="2971800"/>
            <a:ext cx="3154680" cy="2926080"/>
          </a:xfrm>
          <a:prstGeom prst="roundRect">
            <a:avLst>
              <a:gd name="adj" fmla="val 2500"/>
            </a:avLst>
          </a:prstGeom>
          <a:solidFill>
            <a:srgbClr val="EAF6F6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32520" y="31546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Live Dashboards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732520" y="35661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Profitability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Dashboard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732520" y="40690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profit, suppliers,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margins, monthly trend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732520" y="4617720"/>
            <a:ext cx="2697480" cy="0"/>
          </a:xfrm>
          <a:prstGeom prst="line">
            <a:avLst/>
          </a:prstGeom>
          <a:noFill/>
          <a:ln w="12700">
            <a:solidFill>
              <a:srgbClr val="D7E7E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32520" y="47091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Operations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732520" y="52120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rate, shipping mode,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 goods, stock levels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Deliveries Are the #1 Operational Risk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8745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34.16%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94360" y="19933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0" y="1417320"/>
            <a:ext cx="18745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5087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65.30%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606040" y="19933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Rate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1417320"/>
            <a:ext cx="18745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5087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130.08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17720" y="19933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Shipping Days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20840" y="1417320"/>
            <a:ext cx="4937760" cy="960120"/>
          </a:xfrm>
          <a:prstGeom prst="roundRect">
            <a:avLst>
              <a:gd name="adj" fmla="val 6667"/>
            </a:avLst>
          </a:prstGeom>
          <a:solidFill>
            <a:srgbClr val="FDF1DD"/>
          </a:solidFill>
          <a:ln w="12700">
            <a:solidFill>
              <a:srgbClr val="F0D9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1481328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Underperforming suppliers: GlobalTrade Ng (72.8% late) and Afroparts Ltd (68.11% late) — priority for remediation.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26060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Delivery Rate by Supplier</a:t>
            </a:r>
            <a:endParaRPr lang="en-US" sz="135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457200" y="2926080"/>
          <a:ext cx="667512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7406640" y="26060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On-Time Delivery Rate by Shipping Mode</a:t>
            </a:r>
            <a:endParaRPr lang="en-US" sz="1350" dirty="0"/>
          </a:p>
        </p:txBody>
      </p:sp>
      <p:graphicFrame>
        <p:nvGraphicFramePr>
          <p:cNvPr id="18" name="Chart 1"/>
          <p:cNvGraphicFramePr/>
          <p:nvPr/>
        </p:nvGraphicFramePr>
        <p:xfrm>
          <a:off x="7406640" y="2926080"/>
          <a:ext cx="429768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 15"/>
          <p:cNvSpPr/>
          <p:nvPr/>
        </p:nvSpPr>
        <p:spPr>
          <a:xfrm>
            <a:off x="7406640" y="58064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leads at 27.07% on-time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ANALYSIS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&amp; Beauty Leads Profit and Efficiency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Region</a:t>
            </a:r>
            <a:endParaRPr lang="en-US" sz="13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11480" y="1737360"/>
          <a:ext cx="411480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45902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Africa: $158.48M (22.43%)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80060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Suppliers by Profit ($M)</a:t>
            </a:r>
            <a:endParaRPr lang="en-US" sz="135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4663440" y="1737360"/>
          <a:ext cx="39776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8915400" y="1417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Margin by Category</a:t>
            </a:r>
            <a:endParaRPr lang="en-US" sz="1350" dirty="0"/>
          </a:p>
        </p:txBody>
      </p:sp>
      <p:graphicFrame>
        <p:nvGraphicFramePr>
          <p:cNvPr id="10" name="Chart 2"/>
          <p:cNvGraphicFramePr/>
          <p:nvPr/>
        </p:nvGraphicFramePr>
        <p:xfrm>
          <a:off x="8732520" y="1737360"/>
          <a:ext cx="32918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89204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013A40"/>
          </a:solidFill>
          <a:ln/>
        </p:spPr>
      </p:sp>
      <p:sp>
        <p:nvSpPr>
          <p:cNvPr id="12" name="Text 7"/>
          <p:cNvSpPr/>
          <p:nvPr/>
        </p:nvSpPr>
        <p:spPr>
          <a:xfrm>
            <a:off x="822960" y="4892040"/>
            <a:ext cx="10561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Beauty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~$25M profit at a 28.67% margin — the most profitable and financially efficient category.  </a:t>
            </a: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Quickship Co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the most supplier value, contributing $19.1M in profit.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OPTIMIZATION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Is Not Aligned With Demand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595360" y="777240"/>
            <a:ext cx="3063240" cy="594360"/>
          </a:xfrm>
          <a:prstGeom prst="roundRect">
            <a:avLst>
              <a:gd name="adj" fmla="val 49231"/>
            </a:avLst>
          </a:prstGeom>
          <a:solidFill>
            <a:srgbClr val="FBE3E1"/>
          </a:solidFill>
          <a:ln w="12700">
            <a:solidFill>
              <a:srgbClr val="F0B7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0" y="7772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Aligned with demand?  NO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Quantity Ordered vs. Stock Level (M units)</a:t>
            </a:r>
            <a:endParaRPr lang="en-US" sz="13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828800"/>
          <a:ext cx="667512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7406640" y="15087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Damaged Goods Rate by Category</a:t>
            </a:r>
            <a:endParaRPr lang="en-US" sz="135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7315200" y="1828800"/>
          <a:ext cx="448056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7315200" y="5074920"/>
            <a:ext cx="4480560" cy="1051560"/>
          </a:xfrm>
          <a:prstGeom prst="roundRect">
            <a:avLst>
              <a:gd name="adj" fmla="val 6087"/>
            </a:avLst>
          </a:prstGeom>
          <a:solidFill>
            <a:srgbClr val="EAF6F6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543800" y="5138928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6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damaged goods rate: 2.51%. Health &amp; Beauty is both the top revenue driver and the highest-damage category — a priority for handling and packaging review.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TRENDS &amp; PATTERNS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Fluctuates With Recurring Seasonal Peaks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63040"/>
          <a:ext cx="112471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25780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013A40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257800"/>
            <a:ext cx="10561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volatile month to month, </a:t>
            </a: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recurring highs in February, May, June and July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$60M–$66M, versus lows near $50M in March and April — a pattern worth aligning promotions and stocking cycles to.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Priorities to Improve Performance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4630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 underperforming suppliers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8288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Renegotiate SLAs or phase out GlobalTrade Ng and Afroparts Ltd, whose late-delivery rates exceed 68%.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1064240" cy="0"/>
          </a:xfrm>
          <a:prstGeom prst="line">
            <a:avLst/>
          </a:prstGeom>
          <a:noFill/>
          <a:ln w="12700">
            <a:solidFill>
              <a:srgbClr val="D7E7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423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3774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the Express shipping mode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27432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delivers the strongest on-time rate (27.07%) — shift more volume toward it where cost allows.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11064240" cy="0"/>
          </a:xfrm>
          <a:prstGeom prst="line">
            <a:avLst/>
          </a:prstGeom>
          <a:noFill/>
          <a:ln w="12700">
            <a:solidFill>
              <a:srgbClr val="D7E7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337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291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Rebalance inventory to demand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3657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Realign stock levels with quantity-ordered patterns to cut holding costs and reduce shortages, especially in Health &amp; Beauty.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11064240" cy="0"/>
          </a:xfrm>
          <a:prstGeom prst="line">
            <a:avLst/>
          </a:prstGeom>
          <a:noFill/>
          <a:ln w="12700">
            <a:solidFill>
              <a:srgbClr val="D7E7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251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42062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the Health &amp; Beauty category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45720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drives the highest profit and margin (28.67%) but also the highest damage rate — invest in handling and packaging fixes.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166360"/>
            <a:ext cx="11064240" cy="0"/>
          </a:xfrm>
          <a:prstGeom prst="line">
            <a:avLst/>
          </a:prstGeom>
          <a:noFill/>
          <a:ln w="12700">
            <a:solidFill>
              <a:srgbClr val="D7E7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166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8720" y="51206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Modernize reporting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88720" y="54864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real-time Power BI dashboards to give leadership continuous visibility instead of static, fragmented reports.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3931920"/>
            <a:ext cx="5943600" cy="5943600"/>
          </a:xfrm>
          <a:prstGeom prst="ellipse">
            <a:avLst/>
          </a:prstGeom>
          <a:solidFill>
            <a:srgbClr val="022C30"/>
          </a:solidFill>
          <a:ln/>
        </p:spPr>
      </p:sp>
      <p:sp>
        <p:nvSpPr>
          <p:cNvPr id="3" name="Shape 1"/>
          <p:cNvSpPr/>
          <p:nvPr/>
        </p:nvSpPr>
        <p:spPr>
          <a:xfrm>
            <a:off x="-1737360" y="4754880"/>
            <a:ext cx="4297680" cy="4297680"/>
          </a:xfrm>
          <a:prstGeom prst="ellipse">
            <a:avLst/>
          </a:prstGeom>
          <a:ln w="1905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5577840"/>
            <a:ext cx="2651760" cy="2651760"/>
          </a:xfrm>
          <a:prstGeom prst="ellipse">
            <a:avLst/>
          </a:prstGeom>
          <a:ln w="1905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Insight to Action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GlobalMart analysis shows a business with healthy revenue growth undercut by delivery failures, inventory misalignment, and flat margins — all fixable with focused, data-led action.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5328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supplier performance reviews with GlobalTrade Ng and Afroparts Ltd within 30 days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9981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demand-driven replenishment for the five highest-turnover categories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67328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66674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live Power BI dashboards to regional and executive teams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334256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23367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on-time delivery, damaged goods rate, and category margin monthly against these baselines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394960"/>
            <a:ext cx="21945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532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GlobalMart Supply Chain Analytics  •  Thank You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916</Words>
  <Application>Microsoft Office PowerPoint</Application>
  <PresentationFormat>Widescreen</PresentationFormat>
  <Paragraphs>164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Maryam Zubair</cp:lastModifiedBy>
  <cp:revision>1</cp:revision>
  <dcterms:created xsi:type="dcterms:W3CDTF">2026-07-21T12:07:20Z</dcterms:created>
  <dcterms:modified xsi:type="dcterms:W3CDTF">2026-07-21T12:20:26Z</dcterms:modified>
</cp:coreProperties>
</file>